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2" r:id="rId6"/>
    <p:sldId id="283" r:id="rId7"/>
    <p:sldId id="286" r:id="rId8"/>
    <p:sldId id="289" r:id="rId9"/>
    <p:sldId id="284" r:id="rId10"/>
    <p:sldId id="285" r:id="rId11"/>
    <p:sldId id="290" r:id="rId12"/>
    <p:sldId id="287" r:id="rId13"/>
    <p:sldId id="288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191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406102"/>
            <a:ext cx="3485073" cy="1818879"/>
          </a:xfrm>
        </p:spPr>
        <p:txBody>
          <a:bodyPr>
            <a:normAutofit/>
          </a:bodyPr>
          <a:lstStyle/>
          <a:p>
            <a:pPr algn="l"/>
            <a:r>
              <a:rPr lang="en-US" sz="3600" b="1" i="1" dirty="0">
                <a:solidFill>
                  <a:srgbClr val="00B0F0"/>
                </a:solidFill>
              </a:rPr>
              <a:t>SUBSTITUTION VS TRANSPOSITION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3365598"/>
            <a:ext cx="3485072" cy="1818879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5792BA"/>
                </a:solidFill>
              </a:rPr>
              <a:t>PRESENTED BY: </a:t>
            </a:r>
            <a:r>
              <a:rPr lang="en-US" sz="2000" dirty="0" err="1">
                <a:solidFill>
                  <a:srgbClr val="5792BA"/>
                </a:solidFill>
              </a:rPr>
              <a:t>P.Monisha</a:t>
            </a:r>
            <a:endParaRPr lang="en-US" sz="2000" dirty="0">
              <a:solidFill>
                <a:srgbClr val="5792BA"/>
              </a:solidFill>
            </a:endParaRPr>
          </a:p>
          <a:p>
            <a:pPr algn="l"/>
            <a:r>
              <a:rPr lang="en-US" sz="2000" dirty="0">
                <a:solidFill>
                  <a:srgbClr val="5792BA"/>
                </a:solidFill>
              </a:rPr>
              <a:t>COURSE CODE:CSA5112</a:t>
            </a:r>
          </a:p>
          <a:p>
            <a:pPr algn="l"/>
            <a:r>
              <a:rPr lang="en-US" sz="2000" dirty="0">
                <a:solidFill>
                  <a:srgbClr val="5792BA"/>
                </a:solidFill>
              </a:rPr>
              <a:t>COURSE: Cryptography</a:t>
            </a:r>
          </a:p>
          <a:p>
            <a:pPr algn="l"/>
            <a:endParaRPr lang="en-US" sz="2300" dirty="0">
              <a:solidFill>
                <a:srgbClr val="5792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DAE4-929F-A6FF-6E2B-1B4003B9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What is CRYPTOGRAPHY….?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7BE3-09E9-7D4B-724F-538FB2F03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Plaintext:</a:t>
            </a:r>
            <a:r>
              <a:rPr lang="en-IN" dirty="0"/>
              <a:t> the original readable message</a:t>
            </a:r>
          </a:p>
          <a:p>
            <a:pPr lvl="0"/>
            <a:r>
              <a:rPr lang="en-IN" b="1" dirty="0"/>
              <a:t>Ciphertext:</a:t>
            </a:r>
            <a:r>
              <a:rPr lang="en-IN" dirty="0"/>
              <a:t> the encrypted message</a:t>
            </a:r>
          </a:p>
          <a:p>
            <a:pPr lvl="0"/>
            <a:r>
              <a:rPr lang="en-IN" b="1" dirty="0"/>
              <a:t>Encryption:</a:t>
            </a:r>
            <a:r>
              <a:rPr lang="en-IN" dirty="0"/>
              <a:t> changing plaintext into ciphertext</a:t>
            </a:r>
          </a:p>
          <a:p>
            <a:pPr lvl="0"/>
            <a:r>
              <a:rPr lang="en-IN" b="1" dirty="0"/>
              <a:t>Decryption:</a:t>
            </a:r>
            <a:r>
              <a:rPr lang="en-IN" dirty="0"/>
              <a:t> changing ciphertext back into plaintext</a:t>
            </a:r>
          </a:p>
          <a:p>
            <a:r>
              <a:rPr lang="en-IN" b="1" dirty="0"/>
              <a:t>Example:</a:t>
            </a:r>
            <a:r>
              <a:rPr lang="en-IN" dirty="0"/>
              <a:t> HELLO is plaintext; a scrambled version is ciphertext.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45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EAA9-1BA8-4505-EDF6-D0453CE5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CIPHER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0EE8-FD6C-D855-05A9-DE7054CF8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A substitution cipher replaces each letter with another letter or symbol.</a:t>
            </a:r>
          </a:p>
          <a:p>
            <a:r>
              <a:rPr lang="en-IN" sz="2400" b="1" dirty="0"/>
              <a:t>Example rule:</a:t>
            </a:r>
            <a:r>
              <a:rPr lang="en-IN" sz="2400" dirty="0"/>
              <a:t> If key is 3,Shift each letter forward by 3 places.</a:t>
            </a:r>
          </a:p>
          <a:p>
            <a:pPr lvl="0"/>
            <a:r>
              <a:rPr lang="en-IN" sz="2400" dirty="0"/>
              <a:t>A becomes D</a:t>
            </a:r>
          </a:p>
          <a:p>
            <a:pPr lvl="0"/>
            <a:r>
              <a:rPr lang="en-IN" sz="2400" dirty="0"/>
              <a:t>B becomes E</a:t>
            </a:r>
          </a:p>
          <a:p>
            <a:pPr lvl="0"/>
            <a:r>
              <a:rPr lang="en-IN" sz="2400" dirty="0"/>
              <a:t>C becomes 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912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DDE4-7C76-30A8-51EF-2B0CC9D2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SUBSTITUTION CIPHER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BCE51-D360-E74A-6813-81EF850CFE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1" y="3568065"/>
          <a:ext cx="10353672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612">
                  <a:extLst>
                    <a:ext uri="{9D8B030D-6E8A-4147-A177-3AD203B41FA5}">
                      <a16:colId xmlns:a16="http://schemas.microsoft.com/office/drawing/2014/main" val="924185891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970641366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216097523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487426560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3751744879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294094469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7214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Ciphertext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1490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C16DA2-623E-0AC5-EB5A-C3ECC6E734C3}"/>
              </a:ext>
            </a:extLst>
          </p:cNvPr>
          <p:cNvSpPr txBox="1"/>
          <p:nvPr/>
        </p:nvSpPr>
        <p:spPr>
          <a:xfrm>
            <a:off x="3048000" y="2389239"/>
            <a:ext cx="59583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Caesar cipher: shift by 3</a:t>
            </a:r>
            <a:endParaRPr lang="en-IN" sz="2800" dirty="0"/>
          </a:p>
          <a:p>
            <a:pPr>
              <a:buNone/>
            </a:pPr>
            <a:r>
              <a:rPr lang="en-IN" sz="2800" b="1" dirty="0"/>
              <a:t>HELLO → KHOOR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3340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9B8C-D0D3-F897-11C5-314E0CC3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SUBSTITUTION CIPHER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E2FFD-1037-7D18-2494-A9B9C6DD0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Caeser cipher</a:t>
            </a:r>
          </a:p>
          <a:p>
            <a:r>
              <a:rPr lang="en-US" sz="2800" dirty="0"/>
              <a:t>Monoalphabetic cipher</a:t>
            </a:r>
          </a:p>
          <a:p>
            <a:r>
              <a:rPr lang="en-US" sz="2800" dirty="0"/>
              <a:t>Playfair cipher</a:t>
            </a:r>
          </a:p>
          <a:p>
            <a:r>
              <a:rPr lang="en-US" sz="2800" dirty="0"/>
              <a:t>Hill cipher</a:t>
            </a:r>
          </a:p>
          <a:p>
            <a:r>
              <a:rPr lang="en-US" sz="2800" dirty="0"/>
              <a:t>Polyalphabetic cipher</a:t>
            </a:r>
          </a:p>
          <a:p>
            <a:r>
              <a:rPr lang="en-US" sz="2800" dirty="0"/>
              <a:t>Affine cipher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43159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CEE2-7DF5-682D-ABC4-A9D73450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TRANSPOSITION CIPHER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E5A7-924B-9F31-E2EA-18B1DF022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487561"/>
            <a:ext cx="10353762" cy="3303638"/>
          </a:xfrm>
        </p:spPr>
        <p:txBody>
          <a:bodyPr/>
          <a:lstStyle/>
          <a:p>
            <a:r>
              <a:rPr lang="en-IN" sz="2800" dirty="0"/>
              <a:t>A transposition cipher keeps the original letters but changes their positions.</a:t>
            </a:r>
          </a:p>
          <a:p>
            <a:r>
              <a:rPr lang="en-IN" sz="2800" b="1" dirty="0"/>
              <a:t>Simple example:</a:t>
            </a:r>
            <a:endParaRPr lang="en-IN" sz="2800" dirty="0"/>
          </a:p>
          <a:p>
            <a:r>
              <a:rPr lang="en-IN" sz="2800" dirty="0"/>
              <a:t>TEAM → MATE</a:t>
            </a:r>
          </a:p>
          <a:p>
            <a:r>
              <a:rPr lang="en-IN" sz="2800" dirty="0"/>
              <a:t>The same letters are present, but the order has changed.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99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D561-A33F-77DE-783B-9BD016B0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FOR TRANSPOSITION CIPHER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E60AB-6CDD-6707-2983-D3763785A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the letters of WEAREDISCOVERED in two alternating rows:</a:t>
            </a:r>
          </a:p>
          <a:p>
            <a:r>
              <a:rPr lang="en-IN" dirty="0"/>
              <a:t>W A E I C V R D</a:t>
            </a:r>
          </a:p>
          <a:p>
            <a:r>
              <a:rPr lang="en-IN" dirty="0"/>
              <a:t> E R D S O E </a:t>
            </a:r>
            <a:r>
              <a:rPr lang="en-IN" dirty="0" err="1"/>
              <a:t>E</a:t>
            </a:r>
            <a:endParaRPr lang="en-IN" dirty="0"/>
          </a:p>
          <a:p>
            <a:r>
              <a:rPr lang="en-IN" dirty="0"/>
              <a:t>Read the top row, then the bottom row:</a:t>
            </a:r>
          </a:p>
          <a:p>
            <a:r>
              <a:rPr lang="en-IN" b="1" dirty="0"/>
              <a:t>WEAREDISCOVERED → WAEICVRDERSOEE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2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89FD-210A-823F-D0C2-05417E55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TRANSPOSITION CIPHER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467A-1F66-7869-B6E2-7D41346FE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Rail </a:t>
            </a:r>
            <a:r>
              <a:rPr lang="en-US" sz="3600" dirty="0" err="1"/>
              <a:t>Fense</a:t>
            </a:r>
            <a:r>
              <a:rPr lang="en-US" sz="3600" dirty="0"/>
              <a:t> cipher</a:t>
            </a:r>
          </a:p>
          <a:p>
            <a:r>
              <a:rPr lang="en-US" sz="3600" dirty="0" err="1"/>
              <a:t>Columner</a:t>
            </a:r>
            <a:r>
              <a:rPr lang="en-US" sz="3600" dirty="0"/>
              <a:t> transposition cipher</a:t>
            </a:r>
          </a:p>
        </p:txBody>
      </p:sp>
    </p:spTree>
    <p:extLst>
      <p:ext uri="{BB962C8B-B14F-4D97-AF65-F5344CB8AC3E}">
        <p14:creationId xmlns:p14="http://schemas.microsoft.com/office/powerpoint/2010/main" val="272356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F6198-D13C-E149-9E43-4C07E4A7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i="1" dirty="0"/>
              <a:t>COMPARISION </a:t>
            </a:r>
            <a:endParaRPr lang="en-IN" sz="6600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D3636C-90A3-9729-A305-66F3FBB8AB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7693247"/>
              </p:ext>
            </p:extLst>
          </p:nvPr>
        </p:nvGraphicFramePr>
        <p:xfrm>
          <a:off x="914400" y="2556386"/>
          <a:ext cx="10353675" cy="35396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126584209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859960309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4222127028"/>
                    </a:ext>
                  </a:extLst>
                </a:gridCol>
              </a:tblGrid>
              <a:tr h="61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Substitution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112746"/>
                  </a:ext>
                </a:extLst>
              </a:tr>
              <a:tr h="61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changes?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letters or symbols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positions of the letters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863119"/>
                  </a:ext>
                </a:extLst>
              </a:tr>
              <a:tr h="61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stays the same?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Usually the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original letters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766513"/>
                  </a:ext>
                </a:extLst>
              </a:tr>
              <a:tr h="61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HELLO → KHOOR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TEAM → MATE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429206"/>
                  </a:ext>
                </a:extLst>
              </a:tr>
              <a:tr h="1077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Which symbol replaces each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Where each symbol is placed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09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26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4419-A1BA-0E50-32EC-0897A70AC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CONCLUSION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92F6-8097-3EBB-F781-6B45BDA7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For </a:t>
            </a:r>
            <a:r>
              <a:rPr lang="en-IN" b="1" dirty="0"/>
              <a:t>classical ciphers</a:t>
            </a:r>
            <a:r>
              <a:rPr lang="en-IN" dirty="0"/>
              <a:t>, neither substitution nor transposition alone provides strong security today.</a:t>
            </a:r>
          </a:p>
          <a:p>
            <a:pPr lvl="0"/>
            <a:r>
              <a:rPr lang="en-IN" b="1" dirty="0"/>
              <a:t>Substitution</a:t>
            </a:r>
            <a:r>
              <a:rPr lang="en-IN" dirty="0"/>
              <a:t> changes the letters, but repeated-letter and language-frequency patterns can give clues.</a:t>
            </a:r>
          </a:p>
          <a:p>
            <a:pPr lvl="0"/>
            <a:r>
              <a:rPr lang="en-IN" b="1" dirty="0"/>
              <a:t>Transposition</a:t>
            </a:r>
            <a:r>
              <a:rPr lang="en-IN" dirty="0"/>
              <a:t> rearranges the letters, but keeps the original letters and their frequencies, which also gives clues.</a:t>
            </a:r>
          </a:p>
          <a:p>
            <a:r>
              <a:rPr lang="en-IN" dirty="0"/>
              <a:t> A complex transposition cipher may be harder to spot by eye than a simple Caesar substitution, but that does not make it reliably more secure. Security depends on the cipher design and key, and modern encryption is far stronger than either classical method.</a:t>
            </a:r>
          </a:p>
          <a:p>
            <a:pPr marL="369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73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A3415F-6300-48D2-F87C-578F10317584}"/>
              </a:ext>
            </a:extLst>
          </p:cNvPr>
          <p:cNvSpPr txBox="1"/>
          <p:nvPr/>
        </p:nvSpPr>
        <p:spPr>
          <a:xfrm>
            <a:off x="3519948" y="2546554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759018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{89BBE8D7-6E41-44A5-BFB1-1486A97DBD68}TF44c8ba04-08d0-4be5-99b0-3ee2a8f0f11401c8fd43_win32-463ac1ec4738</Template>
  <TotalTime>94</TotalTime>
  <Words>365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Nova</vt:lpstr>
      <vt:lpstr>Arial Nova Light</vt:lpstr>
      <vt:lpstr>Wingdings 2</vt:lpstr>
      <vt:lpstr>SlateVTI</vt:lpstr>
      <vt:lpstr>SUBSTITUTION VS TRANSPOSITION</vt:lpstr>
      <vt:lpstr>What is CRYPTOGRAPHY….?</vt:lpstr>
      <vt:lpstr>SUBSTITUTION CIPHER</vt:lpstr>
      <vt:lpstr>EXAMPLE FOR SUBSTITUTION CIPHER</vt:lpstr>
      <vt:lpstr>TYPES OF SUBSTITUTION CIPHER</vt:lpstr>
      <vt:lpstr>TRANSPOSITION CIPHER</vt:lpstr>
      <vt:lpstr>EXAMPLE FOR TRANSPOSITION CIPHER</vt:lpstr>
      <vt:lpstr>TYPES OF TRANSPOSITION CIPHER</vt:lpstr>
      <vt:lpstr>COMPARISION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MONISHA</dc:creator>
  <cp:lastModifiedBy>P MONISHA</cp:lastModifiedBy>
  <cp:revision>1</cp:revision>
  <dcterms:created xsi:type="dcterms:W3CDTF">2026-10-12T11:45:34Z</dcterms:created>
  <dcterms:modified xsi:type="dcterms:W3CDTF">2026-10-12T13:20:05Z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